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flow: 3 min intro (this + next 2 slides), 10 min demo, 9 min judge Q&amp;A, 4 min open Q&amp;A, 4 min grading/reset. Team leader opens: introduce yourself, your team, and the project in one breath. One-breath opener: StudyBros takes whatever a student already has, slides, PDFs, even lecture recordings, and turns it into active practice on a memory-science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every member's name out loud. Each team member must personally present in at least one round today. The four parts run 1 to 4 with a handoff sentence between each; roughly 2 to 2.5 minutes per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the 3-minute intro here; hand off to the demo driver later at slide 7. Part 1 script: everyone has reread notes the night before an exam, felt ready, and blanked on the test. That readiness is recognition, not recall. StudyBros exists to fight exactly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judges to the requirements documentation for the complete list; these are the handful that defined success, functional and non-functional.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three decisions we defend in Q&amp;A, each with its trade-off stated up front. If asked 'isn't this just Anki with an AI wrapper': FSRS beat Anki's SM-2 in a 728-million-review benchmark, and Anki makes you hand-write every card; we remove that friction and schedule with the better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 script: one Python core, three front doors; fix something once and every surface gets it. Ingestion: scanner finds files, format-specific extractors pull text (video rips audio with FFmpeg and transcribes with Whisper), the chunker cuts on natural boundaries. Storage: SQLite through SQLAlchemy; Sources, Documents, Chunks, Study Sets, plus learning tables. MCP server exposes 10 tools, 9 resources, 8 prompts; the connected model does the generation, so the user needs no API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from the native Zoom app; share only the app window. Both servers running BEFORE the session starts (FastAPI on 8000, Next.js on 3000). Use a fast provider, never the key-free Codex path live; it takes minutes. If generation is slow, cut to the pre-generated study set and keep talking. If upload fails, Part 2's presenter narrates the pipeline while the driver recovers. Rehearsed at 60 to 90 seconds inside the 10-minute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SO6 (CS): apply computer science theory and software development fundamentals to produce computing-based solutions; judges are listening for exactly this. Point to the documentation chapter for the full evidence; the sprint archives contain the daily scrums, planning, reviews, and retros.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or three large callouts beat a wall of numbers. If pressed on test evidence: the suite spans chunking, database, extraction, generation, the scheduler, the MCP server (40 tests), the REST API (44), gamification (22), and the key-free provider path (11); the last recorded full-suite run passed clean. The research numbers are cited, not ours: the FSRS benchmark and Wilson et al. 2019 for the 85%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setback and one ethical consideration are explicitly graded here. The gamification point lands well: streaks are a rolling 5-of-7 days, achievements are competency-gated to Bloom levels, and visible progress is never removed for inactivity; that is designed against engagement theater,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concrete items, in priority order. Deployment first because the architecture already targets it; analytics second because the review data already exists; new sources third because the extractor interface makes each format an isolated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Q&amp;A: judges first (9 min), then open floor (4 min). Final 4 minutes: judges grade, team resets for the next round. Do NOT end the Zoom meeting between rounds. Close with the one-liner: StudyBros takes raw learning material and turns it into an AI-assisted, spaced-repetition study workflow students actually keep using.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4DF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8778240" y="0"/>
            <a:ext cx="2377440" cy="6858000"/>
          </a:xfrm>
          <a:prstGeom prst="line">
            <a:avLst/>
          </a:prstGeom>
          <a:ln w="63500">
            <a:solidFill>
              <a:srgbClr val="F5CF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9601200" y="0"/>
            <a:ext cx="2377440" cy="6858000"/>
          </a:xfrm>
          <a:prstGeom prst="line">
            <a:avLst/>
          </a:prstGeom>
          <a:ln w="63500">
            <a:solidFill>
              <a:srgbClr val="F5CF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424160" y="0"/>
            <a:ext cx="2377440" cy="6858000"/>
          </a:xfrm>
          <a:prstGeom prst="line">
            <a:avLst/>
          </a:prstGeom>
          <a:ln w="63500">
            <a:solidFill>
              <a:srgbClr val="F5CF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17320"/>
            <a:ext cx="7680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300" b="1">
                <a:solidFill>
                  <a:srgbClr val="FFFFFF"/>
                </a:solidFill>
                <a:latin typeface="Montserrat ExtraBold"/>
              </a:rPr>
              <a:t>StudyBros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FEDFF"/>
                </a:solidFill>
                <a:latin typeface="Montserrat"/>
              </a:rPr>
              <a:t>Turns a student's own materials into flashcards, quizzes,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FEDFF"/>
                </a:solidFill>
                <a:latin typeface="Montserrat"/>
              </a:rPr>
              <a:t>and practice tests, scheduled by learning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34840"/>
            <a:ext cx="7863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ontserrat"/>
              </a:rPr>
              <a:t>Kirneill  ·  Danny  ·  Lenyn  ·  Goncalo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ontserrat"/>
              </a:rPr>
              <a:t>Instructor: Prof. Masoud Sadjadi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ontserrat"/>
              </a:rPr>
              <a:t>Computer Science  ·  Capstone 2  ·  Summer 2026 Virtual Showcase  ·  FIU KFSCIS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Montserrat Medium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232B"/>
                </a:solidFill>
                <a:latin typeface="Montserrat ExtraBold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0"/>
                </a:solidFill>
                <a:latin typeface="Montserrat"/>
              </a:rPr>
              <a:t>3-minute intro segment; keep this to 30 seconds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37943"/>
            <a:ext cx="420624" cy="420624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 Extra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5232B"/>
                </a:solidFill>
                <a:latin typeface="Montserrat SemiBold"/>
              </a:rPr>
              <a:t>Goncalo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1810512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15232B"/>
                </a:solidFill>
                <a:latin typeface="Montserrat"/>
              </a:rPr>
              <a:t>Learning science &amp; FSRS scheduling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1051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5B6570"/>
                </a:solidFill>
                <a:latin typeface="Montserrat"/>
              </a:rPr>
              <a:t>Presents Part 1: the problem and the science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008376"/>
            <a:ext cx="420624" cy="420624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 Extra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5351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5232B"/>
                </a:solidFill>
                <a:latin typeface="Montserrat SemiBold"/>
              </a:rPr>
              <a:t>Kirneill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980944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15232B"/>
                </a:solidFill>
                <a:latin typeface="Montserrat"/>
              </a:rPr>
              <a:t>Architecture &amp; backend; ingestion, database, MCP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980944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5B6570"/>
                </a:solidFill>
                <a:latin typeface="Montserrat"/>
              </a:rPr>
              <a:t>Presents Part 2: how it's built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178807"/>
            <a:ext cx="420624" cy="420624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 Extra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12394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5232B"/>
                </a:solidFill>
                <a:latin typeface="Montserrat SemiBold"/>
              </a:rPr>
              <a:t>Lenyn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151376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15232B"/>
                </a:solidFill>
                <a:latin typeface="Montserrat"/>
              </a:rPr>
              <a:t>AI generation; prompts, schemas, multi-provider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151376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5B6570"/>
                </a:solidFill>
                <a:latin typeface="Montserrat"/>
              </a:rPr>
              <a:t>Presents Part 3: the AI layer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349240"/>
            <a:ext cx="420624" cy="420624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 Extra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29437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5232B"/>
                </a:solidFill>
                <a:latin typeface="Montserrat SemiBold"/>
              </a:rPr>
              <a:t>Danny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321808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15232B"/>
                </a:solidFill>
                <a:latin typeface="Montserrat"/>
              </a:rPr>
              <a:t>Frontend, gamification &amp; demo driver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32180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5B6570"/>
                </a:solidFill>
                <a:latin typeface="Montserrat"/>
              </a:rPr>
              <a:t>Presents Part 4: the app, live, and the wrap-up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232B"/>
                </a:solidFill>
                <a:latin typeface="Montserrat ExtraBold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0"/>
                </a:solidFill>
                <a:latin typeface="Montserrat"/>
              </a:rPr>
              <a:t>SO1; who has this problem and why it matters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65376"/>
            <a:ext cx="365760" cy="365760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 Extra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5232B"/>
                </a:solidFill>
                <a:latin typeface="Montserrat SemiBold"/>
              </a:rPr>
              <a:t>Rereading feels like studying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9424"/>
            <a:ext cx="5394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5B6570"/>
                </a:solidFill>
                <a:latin typeface="Montserrat"/>
              </a:rPr>
              <a:t>Students reread notes and highlight; it feels productive, but it builds recognition, not recall.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980944"/>
            <a:ext cx="365760" cy="365760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 ExtraBol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44368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5232B"/>
                </a:solidFill>
                <a:latin typeface="Montserrat SemiBold"/>
              </a:rPr>
              <a:t>The forgetting is invisible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64991"/>
            <a:ext cx="5394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5B6570"/>
                </a:solidFill>
                <a:latin typeface="Montserrat"/>
              </a:rPr>
              <a:t>Five minutes after closing the notes it looks like it worked; a week later most of it is gone.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96511"/>
            <a:ext cx="365760" cy="365760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 Extra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59935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5232B"/>
                </a:solidFill>
                <a:latin typeface="Montserrat SemiBold"/>
              </a:rPr>
              <a:t>The fix has too much friction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80559"/>
            <a:ext cx="5394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5B6570"/>
                </a:solidFill>
                <a:latin typeface="Montserrat"/>
              </a:rPr>
              <a:t>Active-recall tools work, but they make you hand-write every card; that is where most students quit.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212080"/>
            <a:ext cx="365760" cy="365760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 ExtraBol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75504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5232B"/>
                </a:solidFill>
                <a:latin typeface="Montserrat SemiBold"/>
              </a:rPr>
              <a:t>If nothing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96128"/>
            <a:ext cx="5394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5B6570"/>
                </a:solidFill>
                <a:latin typeface="Montserrat"/>
              </a:rPr>
              <a:t>Cram, forget, repeat; every exam, every semester.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920240"/>
            <a:ext cx="4663440" cy="4023360"/>
          </a:xfrm>
          <a:prstGeom prst="roundRect">
            <a:avLst>
              <a:gd name="adj" fmla="val 6000"/>
            </a:avLst>
          </a:prstGeom>
          <a:solidFill>
            <a:srgbClr val="EF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377440"/>
            <a:ext cx="3931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22257C"/>
                </a:solidFill>
                <a:latin typeface="Montserrat SemiBold"/>
              </a:rPr>
              <a:t>“Rereading produces almost no durable memory;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22257C"/>
                </a:solidFill>
                <a:latin typeface="Montserrat SemiBold"/>
              </a:rPr>
              <a:t>testing yourself does.”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89204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570"/>
                </a:solidFill>
                <a:latin typeface="Montserrat"/>
              </a:rPr>
              <a:t>The testing effect: Roediger &amp; Karpicke, 2006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232B"/>
                </a:solidFill>
                <a:latin typeface="Montserrat ExtraBold"/>
              </a:rPr>
              <a:t>Stakeholders &amp;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0"/>
                </a:solidFill>
                <a:latin typeface="Montserrat"/>
              </a:rPr>
              <a:t>what success had to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57C"/>
                </a:solidFill>
                <a:latin typeface="Montserrat SemiBold"/>
              </a:rPr>
              <a:t>Stakeholders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3566160" cy="1115568"/>
          </a:xfrm>
          <a:prstGeom prst="roundRect">
            <a:avLst>
              <a:gd name="adj" fmla="val 6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6829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5232B"/>
                </a:solidFill>
                <a:latin typeface="Montserrat SemiBold"/>
              </a:rPr>
              <a:t>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52344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5B6570"/>
                </a:solidFill>
                <a:latin typeface="Montserrat"/>
              </a:rPr>
              <a:t>Their own materials in; durable, scheduled memory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38728"/>
            <a:ext cx="3566160" cy="1115568"/>
          </a:xfrm>
          <a:prstGeom prst="roundRect">
            <a:avLst>
              <a:gd name="adj" fmla="val 6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66674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5232B"/>
                </a:solidFill>
                <a:latin typeface="Montserrat SemiBold"/>
              </a:rPr>
              <a:t>Instructors &amp; judges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50791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5B6570"/>
                </a:solidFill>
                <a:latin typeface="Montserrat"/>
              </a:rPr>
              <a:t>Evidence-based methods, not engagement tricks.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37176"/>
            <a:ext cx="3566160" cy="1115568"/>
          </a:xfrm>
          <a:prstGeom prst="roundRect">
            <a:avLst>
              <a:gd name="adj" fmla="val 6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9651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5232B"/>
                </a:solidFill>
                <a:latin typeface="Montserrat SemiBold"/>
              </a:rPr>
              <a:t>The next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49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5B6570"/>
                </a:solidFill>
                <a:latin typeface="Montserrat"/>
              </a:rPr>
              <a:t>Documented, tested, extensible codebase to build 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6916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57C"/>
                </a:solidFill>
                <a:latin typeface="Montserrat SemiBold"/>
              </a:rPr>
              <a:t>Functional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0280"/>
            <a:ext cx="33832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5232B"/>
                </a:solidFill>
                <a:latin typeface="Montserrat"/>
              </a:rPr>
              <a:t>•  Ingest PDF, PPTX, text, Markdown, audio, and video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5232B"/>
                </a:solidFill>
                <a:latin typeface="Montserrat"/>
              </a:rPr>
              <a:t>•  Generate flashcards, quizzes, practice tests, summaries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5232B"/>
                </a:solidFill>
                <a:latin typeface="Montserrat"/>
              </a:rPr>
              <a:t>•  Schedule reviews with FSRS; track mastery per topic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5232B"/>
                </a:solidFill>
                <a:latin typeface="Montserrat"/>
              </a:rPr>
              <a:t>•  Export to JSON, Anki CSV, and Markdown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5232B"/>
                </a:solidFill>
                <a:latin typeface="Montserrat"/>
              </a:rPr>
              <a:t>•  Run as CLI, web app, and MCP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57C"/>
                </a:solidFill>
                <a:latin typeface="Montserrat SemiBold"/>
              </a:rPr>
              <a:t>Non-functional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40280"/>
            <a:ext cx="32918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5232B"/>
                </a:solidFill>
                <a:latin typeface="Montserrat"/>
              </a:rPr>
              <a:t>•  A zero-API-key path must exist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5232B"/>
                </a:solidFill>
                <a:latin typeface="Montserrat"/>
              </a:rPr>
              <a:t>•  Local-first, zero-config storage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5232B"/>
                </a:solidFill>
                <a:latin typeface="Montserrat"/>
              </a:rPr>
              <a:t>•  No single AI vendor lock-in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5232B"/>
                </a:solidFill>
                <a:latin typeface="Montserrat"/>
              </a:rPr>
              <a:t>•  Every AI output validated before it is stored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5232B"/>
                </a:solidFill>
                <a:latin typeface="Montserrat"/>
              </a:rPr>
              <a:t>•  Gamification must be honest; no dark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570"/>
                </a:solidFill>
                <a:latin typeface="Montserrat"/>
              </a:rPr>
              <a:t>The full requirements list lives in the project documentation.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232B"/>
                </a:solidFill>
                <a:latin typeface="Montserrat ExtraBold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0"/>
                </a:solidFill>
                <a:latin typeface="Montserrat"/>
              </a:rPr>
              <a:t>SO2; the approach and the decisions that define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>
                <a:solidFill>
                  <a:srgbClr val="15232B"/>
                </a:solidFill>
                <a:latin typeface="Montserrat"/>
              </a:rPr>
              <a:t>One Python core with three front doors: a CLI, a web app, and an MCP server. StudyBros ingests what a student already has, generates study material with AI, validates every item against a schema, and schedules review with FSRS until a topic is genuinely mastered.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3566160" cy="3383280"/>
          </a:xfrm>
          <a:prstGeom prst="roundRect">
            <a:avLst>
              <a:gd name="adj" fmla="val 6000"/>
            </a:avLst>
          </a:prstGeom>
          <a:solidFill>
            <a:srgbClr val="EF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06324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22257C"/>
                </a:solidFill>
                <a:latin typeface="Montserrat SemiBold"/>
              </a:rPr>
              <a:t>FSRS v5, not classic SM-2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93192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15232B"/>
                </a:solidFill>
                <a:latin typeface="Montserrat"/>
              </a:rPr>
              <a:t>Models each card's memory with a forgetting curve; published benchmarks show 20 to 30% fewer reviews for the same retention.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5486400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5B6570"/>
                </a:solidFill>
                <a:latin typeface="Montserrat"/>
              </a:rPr>
              <a:t>Trade-off: a harder algorithm to implement and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88920"/>
            <a:ext cx="3566160" cy="3383280"/>
          </a:xfrm>
          <a:prstGeom prst="roundRect">
            <a:avLst>
              <a:gd name="adj" fmla="val 6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306324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22257C"/>
                </a:solidFill>
                <a:latin typeface="Montserrat SemiBold"/>
              </a:rPr>
              <a:t>Schema-validated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93192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15232B"/>
                </a:solidFill>
                <a:latin typeface="Montserrat"/>
              </a:rPr>
              <a:t>Every AI response is parsed against strict Pydantic schemas; a malformed card fails loudly instead of shipping.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5486400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5B6570"/>
                </a:solidFill>
                <a:latin typeface="Montserrat"/>
              </a:rPr>
              <a:t>Trade-off: stricter prompts and a validation layer to maintain.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788920"/>
            <a:ext cx="3566160" cy="3383280"/>
          </a:xfrm>
          <a:prstGeom prst="roundRect">
            <a:avLst>
              <a:gd name="adj" fmla="val 6000"/>
            </a:avLst>
          </a:prstGeom>
          <a:solidFill>
            <a:srgbClr val="FB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306324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22257C"/>
                </a:solidFill>
                <a:latin typeface="Montserrat SemiBold"/>
              </a:rPr>
              <a:t>Provider-agnostic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93192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15232B"/>
                </a:solidFill>
                <a:latin typeface="Montserrat"/>
              </a:rPr>
              <a:t>OpenAI, Claude, OpenRouter, or the key-free Codex path; via MCP, the user's own LLM does the generation.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486400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5B6570"/>
                </a:solidFill>
                <a:latin typeface="Montserrat"/>
              </a:rPr>
              <a:t>Trade-off: four paths to test; the key-free path is slow.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232B"/>
                </a:solidFill>
                <a:latin typeface="Montserrat ExtraBold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0"/>
                </a:solidFill>
                <a:latin typeface="Montserrat"/>
              </a:rPr>
              <a:t>one Python core, three front doors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108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B4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5232B"/>
                </a:solidFill>
                <a:latin typeface="Montserrat SemiBold"/>
              </a:rPr>
              <a:t>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5B6570"/>
                </a:solidFill>
                <a:latin typeface="Montserrat"/>
              </a:rPr>
              <a:t>power users &amp; scripting (Click)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44568" y="1600200"/>
            <a:ext cx="3108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B4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1691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5232B"/>
                </a:solidFill>
                <a:latin typeface="Montserrat SemiBold"/>
              </a:rPr>
              <a:t>Web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2057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5B6570"/>
                </a:solidFill>
                <a:latin typeface="Montserrat"/>
              </a:rPr>
              <a:t>Next.js 16 front end over a FastAPI REST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9912" y="1600200"/>
            <a:ext cx="3108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B4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1691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5232B"/>
                </a:solidFill>
                <a:latin typeface="Montserrat SemiBold"/>
              </a:rPr>
              <a:t>MCP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2792" y="2057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5B6570"/>
                </a:solidFill>
                <a:latin typeface="Montserrat"/>
              </a:rPr>
              <a:t>any LLM client; the connected model generates, no API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3246120"/>
            <a:ext cx="9079992" cy="1371600"/>
          </a:xfrm>
          <a:prstGeom prst="roundRect">
            <a:avLst>
              <a:gd name="adj" fmla="val 6000"/>
            </a:avLst>
          </a:prstGeom>
          <a:solidFill>
            <a:srgbClr val="EF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410712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57C"/>
                </a:solidFill>
                <a:latin typeface="Montserrat SemiBold"/>
              </a:rPr>
              <a:t>Python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67911"/>
            <a:ext cx="8503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5232B"/>
                </a:solidFill>
                <a:latin typeface="Montserrat"/>
              </a:rPr>
              <a:t>Ingestion (scan, extract, chunk)  →  SQLite (SQLAlchemy)  →  AI generation  →  FSRS scheduling  →  Export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94560" y="2560320"/>
            <a:ext cx="0" cy="685800"/>
          </a:xfrm>
          <a:prstGeom prst="line">
            <a:avLst/>
          </a:prstGeom>
          <a:ln w="28575">
            <a:solidFill>
              <a:srgbClr val="5B4DF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9048" y="2560320"/>
            <a:ext cx="0" cy="685800"/>
          </a:xfrm>
          <a:prstGeom prst="line">
            <a:avLst/>
          </a:prstGeom>
          <a:ln w="28575">
            <a:solidFill>
              <a:srgbClr val="5B4DF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994392" y="2560320"/>
            <a:ext cx="0" cy="685800"/>
          </a:xfrm>
          <a:prstGeom prst="line">
            <a:avLst/>
          </a:prstGeom>
          <a:ln w="28575">
            <a:solidFill>
              <a:srgbClr val="5B4DF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554480" y="5257800"/>
            <a:ext cx="4754880" cy="1051560"/>
          </a:xfrm>
          <a:prstGeom prst="roundRect">
            <a:avLst>
              <a:gd name="adj" fmla="val 6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5404104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5232B"/>
                </a:solidFill>
                <a:latin typeface="Montserrat SemiBold"/>
              </a:rPr>
              <a:t>AI providers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5232B"/>
                </a:solidFill>
                <a:latin typeface="Montserrat SemiBold"/>
              </a:rPr>
              <a:t>OpenAI · Claude · OpenRouter · Codex (key-free)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5257800"/>
            <a:ext cx="4754880" cy="1051560"/>
          </a:xfrm>
          <a:prstGeom prst="roundRect">
            <a:avLst>
              <a:gd name="adj" fmla="val 6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5404104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5232B"/>
                </a:solidFill>
                <a:latin typeface="Montserrat SemiBold"/>
              </a:rPr>
              <a:t>Exports &amp; study surfaces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5232B"/>
                </a:solidFill>
                <a:latin typeface="Montserrat SemiBold"/>
              </a:rPr>
              <a:t>JSON · Anki CSV · Markdown · review sessions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31920" y="4617720"/>
            <a:ext cx="0" cy="640080"/>
          </a:xfrm>
          <a:prstGeom prst="line">
            <a:avLst/>
          </a:prstGeom>
          <a:ln w="28575">
            <a:solidFill>
              <a:srgbClr val="5B4DF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326880" y="4617720"/>
            <a:ext cx="0" cy="640080"/>
          </a:xfrm>
          <a:prstGeom prst="line">
            <a:avLst/>
          </a:prstGeom>
          <a:ln w="28575">
            <a:solidFill>
              <a:srgbClr val="5B4DF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5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ontserrat ExtraBold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EFEDFF"/>
                </a:solidFill>
                <a:latin typeface="Montserrat"/>
              </a:rPr>
              <a:t>10 minutes; the heart of the session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2257C"/>
                </a:solidFill>
                <a:latin typeface="Montserrat Extra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3347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ontserrat SemiBold"/>
              </a:rPr>
              <a:t>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679191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EFEDFF"/>
                </a:solidFill>
                <a:latin typeface="Montserrat"/>
              </a:rPr>
              <a:t>Real course material goes in; PDF, PPTX, text, audio, or video.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2257C"/>
                </a:solidFill>
                <a:latin typeface="Montserrat ExtraBol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8503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ontserrat SemiBold"/>
              </a:rPr>
              <a:t>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730752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EFEDFF"/>
                </a:solidFill>
                <a:latin typeface="Montserrat"/>
              </a:rPr>
              <a:t>Pick a provider, click generate; validated flashcards come back.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754879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2257C"/>
                </a:solidFill>
                <a:latin typeface="Montserrat Extra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3659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ontserrat SemiBold"/>
              </a:rPr>
              <a:t>Study &amp;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782312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EFEDFF"/>
                </a:solidFill>
                <a:latin typeface="Montserrat"/>
              </a:rPr>
              <a:t>Flip cards in a study set, then the dashboard: streaks, mastery, progress.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5CF4D"/>
                </a:solidFill>
                <a:latin typeface="Montserrat"/>
              </a:rPr>
              <a:t>Safety net: a pre-generated study set and a backup demo video, one click away.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232B"/>
                </a:solidFill>
                <a:latin typeface="Montserrat ExtraBold"/>
              </a:rPr>
              <a:t>Engineering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0"/>
                </a:solidFill>
                <a:latin typeface="Montserrat"/>
              </a:rPr>
              <a:t>SO6 for Computer Science; software development fundamentals in 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 ExtraBol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830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5232B"/>
                </a:solidFill>
                <a:latin typeface="Montserrat SemiBold"/>
              </a:rPr>
              <a:t>Full SDLC over 7 Agile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1284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B6570"/>
                </a:solidFill>
                <a:latin typeface="Montserrat"/>
              </a:rPr>
              <a:t>Daily scrums, sprint planning, reviews, and retrospectives; all archived in the repo.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 ExtraBold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2918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5232B"/>
                </a:solidFill>
                <a:latin typeface="Montserrat SemiBold"/>
              </a:rPr>
              <a:t>Project specification &amp;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72160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B6570"/>
                </a:solidFill>
                <a:latin typeface="Montserrat"/>
              </a:rPr>
              <a:t>Roadmap and task tracker drove every sprint's scope.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 ExtraBol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8006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5232B"/>
                </a:solidFill>
                <a:latin typeface="Montserrat SemiBold"/>
              </a:rPr>
              <a:t>Requirements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23036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B6570"/>
                </a:solidFill>
                <a:latin typeface="Montserrat"/>
              </a:rPr>
              <a:t>Functional and non-functional requirements, traced to shipped features.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 ExtraBol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7830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5232B"/>
                </a:solidFill>
                <a:latin typeface="Montserrat SemiBold"/>
              </a:rPr>
              <a:t>Design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21284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B6570"/>
                </a:solidFill>
                <a:latin typeface="Montserrat"/>
              </a:rPr>
              <a:t>Architecture, data model, and API surface documented end to end.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3337560"/>
            <a:ext cx="457200" cy="457200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 ExtraBol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2918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5232B"/>
                </a:solidFill>
                <a:latin typeface="Montserrat SemiBold"/>
              </a:rPr>
              <a:t>Testing discipline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72160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B6570"/>
                </a:solidFill>
                <a:latin typeface="Montserrat"/>
              </a:rPr>
              <a:t>224 automated tests; pytest, ruff, and mypy in the loop.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4846320"/>
            <a:ext cx="457200" cy="457200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 Extra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8006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5232B"/>
                </a:solidFill>
                <a:latin typeface="Montserrat SemiBold"/>
              </a:rPr>
              <a:t>Versioned, reviewable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523036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B6570"/>
                </a:solidFill>
                <a:latin typeface="Montserrat"/>
              </a:rPr>
              <a:t>GitHub repository with sprint archives and living documentation.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4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Montserrat ExtraBold"/>
              </a:rPr>
              <a:t>Results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FEDFF"/>
                </a:solidFill>
                <a:latin typeface="Montserrat"/>
              </a:rPr>
              <a:t>what we measured, not what we hope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5B4DFC"/>
                </a:solidFill>
                <a:latin typeface="Montserrat ExtraBold"/>
              </a:rPr>
              <a:t>224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2044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5232B"/>
                </a:solidFill>
                <a:latin typeface="Montserrat"/>
              </a:rPr>
              <a:t>automated tests across the core, MCP server, REST API, and gamification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20116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233172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5B4DFC"/>
                </a:solidFill>
                <a:latin typeface="Montserrat ExtraBold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352044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5232B"/>
                </a:solidFill>
                <a:latin typeface="Montserrat"/>
              </a:rPr>
              <a:t>MCP handlers: 10 tools, 9 resources, 8 prompts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3" y="20116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1383" y="233172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5B4DFC"/>
                </a:solidFill>
                <a:latin typeface="Montserrat ExtraBold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3" y="352044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5232B"/>
                </a:solidFill>
                <a:latin typeface="Montserrat"/>
              </a:rPr>
              <a:t>AI providers behind one validated output schema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34856" y="20116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3456" y="233172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5B4DFC"/>
                </a:solidFill>
                <a:latin typeface="Montserrat ExtraBold"/>
              </a:rPr>
              <a:t>6+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3456" y="352044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5232B"/>
                </a:solidFill>
                <a:latin typeface="Montserrat"/>
              </a:rPr>
              <a:t>file formats ingested, from PDF and slides to lecture 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Grounded in published research: FSRS needed 20 to 30% fewer reviews than SM-2 for equal retention in a 728-million-review benchmark, and the 85% difficulty target follows Wilson et al. (2019, Nature Communications).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232B"/>
                </a:solidFill>
                <a:latin typeface="Montserrat ExtraBold"/>
              </a:rPr>
              <a:t>How we worked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0"/>
                </a:solidFill>
                <a:latin typeface="Montserrat"/>
              </a:rPr>
              <a:t>SO5 teamwork · SO4 professional judgment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74519"/>
            <a:ext cx="384048" cy="384048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 Extra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5232B"/>
                </a:solidFill>
                <a:latin typeface="Montserrat SemiBold"/>
              </a:rPr>
              <a:t>Sprint rhythm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286000"/>
            <a:ext cx="4983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5B6570"/>
                </a:solidFill>
                <a:latin typeface="Montserrat"/>
              </a:rPr>
              <a:t>Seven Agile sprints with daily scrums, planning, reviews, and retrospectives; every sprint is archived in the repository.</a:t>
            </a:r>
          </a:p>
        </p:txBody>
      </p:sp>
      <p:sp>
        <p:nvSpPr>
          <p:cNvPr id="7" name="Oval 6"/>
          <p:cNvSpPr/>
          <p:nvPr/>
        </p:nvSpPr>
        <p:spPr>
          <a:xfrm>
            <a:off x="6263640" y="1874519"/>
            <a:ext cx="384048" cy="384048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 ExtraBol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5232B"/>
                </a:solidFill>
                <a:latin typeface="Montserrat SemiBold"/>
              </a:rPr>
              <a:t>Dividing the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4983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5B6570"/>
                </a:solidFill>
                <a:latin typeface="Montserrat"/>
              </a:rPr>
              <a:t>Split along the system's layers: learning science &amp; scheduling, backend &amp; data, AI generation, frontend &amp; gamification; the MCP server and REST API were shared integration work.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 Extra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114800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5232B"/>
                </a:solidFill>
                <a:latin typeface="Montserrat SemiBold"/>
              </a:rPr>
              <a:t>A setback we handled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72000"/>
            <a:ext cx="4983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5B6570"/>
                </a:solidFill>
                <a:latin typeface="Montserrat"/>
              </a:rPr>
              <a:t>Live AI generation proved too slow and flaky to bet a demo on. We answered with engineering: a key-free provider path with explicit logged-out detection and timeouts, plus a pre-generated fallback for the stage.</a:t>
            </a:r>
          </a:p>
        </p:txBody>
      </p:sp>
      <p:sp>
        <p:nvSpPr>
          <p:cNvPr id="13" name="Oval 12"/>
          <p:cNvSpPr/>
          <p:nvPr/>
        </p:nvSpPr>
        <p:spPr>
          <a:xfrm>
            <a:off x="6263640" y="4160520"/>
            <a:ext cx="384048" cy="384048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 ExtraBol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114800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5232B"/>
                </a:solidFill>
                <a:latin typeface="Montserrat SemiBold"/>
              </a:rPr>
              <a:t>Professional judgment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572000"/>
            <a:ext cx="4983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5B6570"/>
                </a:solidFill>
                <a:latin typeface="Montserrat"/>
              </a:rPr>
              <a:t>Student materials stay local in SQLite; the key-free path never sends or stores an API key; gamification deliberately avoids dark patterns, no brittle streaks, no clawed-back progress; MIT licensed.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5232B"/>
                </a:solidFill>
                <a:latin typeface="Montserrat ExtraBold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0"/>
                </a:solidFill>
                <a:latin typeface="Montserrat"/>
              </a:rPr>
              <a:t>for the next team or the product owner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 Extra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5232B"/>
                </a:solidFill>
                <a:latin typeface="Montserrat SemiBold"/>
              </a:rPr>
              <a:t>Production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965960"/>
            <a:ext cx="6126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B6570"/>
                </a:solidFill>
                <a:latin typeface="Montserrat"/>
              </a:rPr>
              <a:t>Front end to Vercel; the backend is a standard FastAPI app, so this is a deploy, not a rebuild.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 ExtraBol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29184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5232B"/>
                </a:solidFill>
                <a:latin typeface="Montserrat SemiBold"/>
              </a:rPr>
              <a:t>Richer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337560"/>
            <a:ext cx="6126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B6570"/>
                </a:solidFill>
                <a:latin typeface="Montserrat"/>
              </a:rPr>
              <a:t>Deeper strengths-and-weaknesses insight mined from each user's review history.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5B4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 Extra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66344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5232B"/>
                </a:solidFill>
                <a:latin typeface="Montserrat SemiBold"/>
              </a:rPr>
              <a:t>New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709160"/>
            <a:ext cx="6126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B6570"/>
                </a:solidFill>
                <a:latin typeface="Montserrat"/>
              </a:rPr>
              <a:t>YouTube links and web pages joining PDFs, slides, audio, and video as ingestible material.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4DF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9144000" y="0"/>
            <a:ext cx="2377440" cy="6858000"/>
          </a:xfrm>
          <a:prstGeom prst="line">
            <a:avLst/>
          </a:prstGeom>
          <a:ln w="63500">
            <a:solidFill>
              <a:srgbClr val="F5CF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9966960" y="0"/>
            <a:ext cx="2377440" cy="6858000"/>
          </a:xfrm>
          <a:prstGeom prst="line">
            <a:avLst/>
          </a:prstGeom>
          <a:ln w="63500">
            <a:solidFill>
              <a:srgbClr val="F5CF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789920" y="0"/>
            <a:ext cx="2377440" cy="6858000"/>
          </a:xfrm>
          <a:prstGeom prst="line">
            <a:avLst/>
          </a:prstGeom>
          <a:ln w="63500">
            <a:solidFill>
              <a:srgbClr val="F5CF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210312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ontserrat ExtraBold"/>
              </a:rPr>
              <a:t>Thank you;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FEDFF"/>
                </a:solidFill>
                <a:latin typeface="Montserrat SemiBold"/>
              </a:rPr>
              <a:t>StudyBros  ·  github.com/Kirneill/StudyBros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KFSCIS Capstone Program  ·  Prof. Masoud Sadjadi  ·  sadjadi@fiu.edu  ·  capstone.cs.fiu.edu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Judges: evaluation window is now;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